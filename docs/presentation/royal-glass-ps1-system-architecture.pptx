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adbaa3e98d4058" /><Relationship Type="http://schemas.openxmlformats.org/officeDocument/2006/relationships/extended-properties" Target="/docProps/app.xml" Id="Re520c7b63eb44f34" /><Relationship Type="http://schemas.openxmlformats.org/officeDocument/2006/relationships/officeDocument" Target="/ppt/presentation.xml" Id="R80a8f5cb766348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5988f552464745"/>
  </p:sldMasterIdLst>
  <p:notesMasterIdLst>
    <p:notesMasterId xmlns:r="http://schemas.openxmlformats.org/officeDocument/2006/relationships" r:id="Rf9d75954cf8a4478"/>
  </p:notesMasterIdLst>
  <p:sldIdLst>
    <p:sldId xmlns:r="http://schemas.openxmlformats.org/officeDocument/2006/relationships" id="256" r:id="R2ff0eddd37af44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174da05bf64881" /><Relationship Type="http://schemas.openxmlformats.org/officeDocument/2006/relationships/slideMaster" Target="/ppt/slideMasters/slideMaster1.xml" Id="R095988f552464745" /><Relationship Type="http://schemas.openxmlformats.org/officeDocument/2006/relationships/notesMaster" Target="/ppt/notesMasters/notesMaster1.xml" Id="Rf9d75954cf8a4478" /><Relationship Type="http://schemas.openxmlformats.org/officeDocument/2006/relationships/presProps" Target="/ppt/presProps.xml" Id="R114e80f8e6e946cd" /><Relationship Type="http://schemas.openxmlformats.org/officeDocument/2006/relationships/tableStyles" Target="/ppt/tableStyles.xml" Id="Rbce28a7df5b44696" /><Relationship Type="http://schemas.openxmlformats.org/officeDocument/2006/relationships/slide" Target="/ppt/slides/slide1.xml" Id="R2ff0eddd37af44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113abe97674e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a959370d1d46d2" /><Relationship Type="http://schemas.openxmlformats.org/officeDocument/2006/relationships/notesMaster" Target="/ppt/notesMasters/notesMaster1.xml" Id="R6d0a72c0729845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based on the agreed WordPress PS1 portal, Roxy's applicant logic, RGTools as the application source of truth, private R2 document storage, and ServiceM8 operational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576b4da724c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a5b9c220674a70" /><Relationship Type="http://schemas.openxmlformats.org/officeDocument/2006/relationships/slideLayout" Target="/ppt/slideLayouts/slideLayout1.xml" Id="Red82f200eb944d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82f200eb944d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b52a289ab427a" /><Relationship Type="http://schemas.openxmlformats.org/officeDocument/2006/relationships/notesSlide" Target="/ppt/notesSlides/notesSlide1.xml" Id="Ree68215a04cc4c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99FFD40-7FC9-4D40-80BB-3164048E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A2E5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A2E5C"/>
                </a:solidFill>
                <a:latin typeface="Arial"/>
                <a:ea typeface="Arial"/>
                <a:cs typeface="Arial"/>
              </a:rPr>
              <a:t>Royal Glass PS1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DAF6B-373C-44B4-A536-588679F4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WordPress captures the application. RGTools controls the workflow. ServiceM8 manages the operational job.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52A89-9F71-4AD7-8BE2-4DDAB19F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68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268C4"/>
                </a:solidFill>
                <a:latin typeface="Arial"/>
                <a:ea typeface="Arial"/>
                <a:cs typeface="Arial"/>
              </a:rPr>
              <a:t>CLIENTS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B45C5-E938-44EE-93A8-1F6B6544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6764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81BC9-4CF8-49D0-B93F-ADA5DA2C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Existing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A6C5F-2865-4D00-80F5-6CC26C30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947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May already have an RGTools client or ServiceM8 job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30B0C-E04A-4A60-9B30-240749D2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16764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1EF9D-BA47-4A67-9812-79F94187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1409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New 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134C4-4E36-4379-98DD-49DD95CE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40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Starts with a provisional RGTools client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AB207-6BB5-44EC-A541-7C0D35DD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31445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68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268C4"/>
                </a:solidFill>
                <a:latin typeface="Arial"/>
                <a:ea typeface="Arial"/>
                <a:cs typeface="Arial"/>
              </a:rPr>
              <a:t>WORDPRESS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B65AEF-460F-4889-A0B0-7FD5DC77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19250"/>
            <a:ext cx="2133600" cy="1924050"/>
          </a:xfrm>
          <a:prstGeom xmlns:a="http://schemas.openxmlformats.org/drawingml/2006/main" prst="roundRect">
            <a:avLst>
              <a:gd name="adj" fmla="val 6931"/>
            </a:avLst>
          </a:prstGeom>
          <a:solidFill xmlns:a="http://schemas.openxmlformats.org/drawingml/2006/main">
            <a:srgbClr val="DDEC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169CB-B297-4962-8854-94434114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24025"/>
            <a:ext cx="1866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8-step PS1 portal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40382-8851-4D50-AB3C-EDD9E671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90725"/>
            <a:ext cx="1866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Applicant and project team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Project and design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Site conditions and fall hazard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Documents, request and submission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752343-93A9-45F2-87BF-0FA7274F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1828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68C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268C4"/>
                </a:solidFill>
                <a:latin typeface="Arial"/>
                <a:ea typeface="Arial"/>
                <a:cs typeface="Arial"/>
              </a:rPr>
              <a:t>Secure 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38326-CADF-4489-9372-16D2EB26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14450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899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8999"/>
                </a:solidFill>
                <a:latin typeface="Arial"/>
                <a:ea typeface="Arial"/>
                <a:cs typeface="Arial"/>
              </a:rPr>
              <a:t>RGTOOLS — SOURCE OF TRUTH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A7CB1-978F-486C-9931-A06FF7B7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24000"/>
            <a:ext cx="4019550" cy="28003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E5F6F6"/>
          </a:solidFill>
          <a:ln xmlns:a="http://schemas.openxmlformats.org/drawingml/2006/main" w="9525">
            <a:solidFill>
              <a:srgbClr val="B8DE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9B8AF-0F03-4939-A96A-56CCFC1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676400"/>
            <a:ext cx="17907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10001-9468-4178-AF0A-5C3E1D88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7490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Client and project resolver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35C037-1955-4002-B31E-9824DB66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478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289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Match, provisional record or staff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F5B3A-1AAC-442D-8BF5-C17C018E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76400"/>
            <a:ext cx="17907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35AA3-D016-4C40-A03D-DC9264FB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811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Roxy's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F12EB-E410-4EB2-8ACE-5C69327D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289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Versioned catalogue and review signals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5957B-652A-4889-8C38-0138A0F5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95550"/>
            <a:ext cx="37147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0A2E5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0BFC7-3E09-48CA-B6F7-1380C171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00325"/>
            <a:ext cx="3448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PS1 application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66C08-32D4-47CA-9B5F-1DDEBB0C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67025"/>
            <a:ext cx="3448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CE8F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DCE8F5"/>
                </a:solidFill>
                <a:latin typeface="Arial"/>
                <a:ea typeface="Arial"/>
                <a:cs typeface="Arial"/>
              </a:rPr>
              <a:t>Draft  |  submitted  |  technical review  |  more information  |  agreement  |  issued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DA2E33-D3E3-4B5C-A0BB-4B048427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71850"/>
            <a:ext cx="17907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77DC76-986B-4F84-B1A7-A376454E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7662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190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3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33D"/>
                </a:solidFill>
                <a:latin typeface="Arial"/>
                <a:ea typeface="Arial"/>
                <a:cs typeface="Arial"/>
              </a:rPr>
              <a:t>Royal Glass staff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D69D42-FB0F-41B4-9BFD-A54F6B8F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433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3C6A52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3C6A52"/>
                </a:solidFill>
                <a:latin typeface="Arial"/>
                <a:ea typeface="Arial"/>
                <a:cs typeface="Arial"/>
              </a:rPr>
              <a:t>Confirm the client, route and information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770746-FAAA-4258-BE02-B12553DC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71850"/>
            <a:ext cx="17907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32BE79-56D6-421C-8EF8-16879F00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7662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900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Existing PS Generator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C56090-6B72-402D-BEAC-0E1B30B2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433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Prepare the approved PS1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D034AF-D19D-4CEA-8A22-580AEC89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144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340B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40B4"/>
                </a:solidFill>
                <a:latin typeface="Arial"/>
                <a:ea typeface="Arial"/>
                <a:cs typeface="Arial"/>
              </a:rPr>
              <a:t>SERVICEM8 — 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9A7D69-E4A9-4D2A-8125-114127A9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0"/>
            <a:ext cx="2019300" cy="280035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9525">
            <a:solidFill>
              <a:srgbClr val="D8C7E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1F7C7B-8FD7-45A6-91EE-52C3799B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145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7340B4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340B4"/>
                </a:solidFill>
                <a:latin typeface="Arial"/>
                <a:ea typeface="Arial"/>
                <a:cs typeface="Arial"/>
              </a:rPr>
              <a:t>EXISTING CLIENT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4F0122-9E50-4571-A332-9A0D567A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240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Link the current job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16D476-DF29-44DE-BE98-8EB772AA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907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Add the PS1 summary and RGTools reference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4CC2C5-C81D-4159-B16C-3B505486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7E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59F30A-73A3-4A89-9016-F0FDCCA9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7340B4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7340B4"/>
                </a:solidFill>
                <a:latin typeface="Arial"/>
                <a:ea typeface="Arial"/>
                <a:cs typeface="Arial"/>
              </a:rPr>
              <a:t>NEW CLIENT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7C7F84-6232-429F-BB3C-ECAE2E27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6705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Send an inbox lead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1C6255-F1D9-43A7-B044-532EDE1F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337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Contact and Project Summary only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A5118F-0192-485F-9570-C94C8A29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481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7340B4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7340B4"/>
                </a:solidFill>
                <a:latin typeface="Arial"/>
                <a:ea typeface="Arial"/>
                <a:cs typeface="Arial"/>
              </a:rPr>
              <a:t>Job webhook links the record back to RGTools</a:t>
            </a:r>
          </a:p>
        </p:txBody>
      </p:sp>
      <p:cxnSp>
        <p:nvCxnSpPr>
          <p:cNvPr id="112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33600" y="2057400"/>
            <a:ext cx="47625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293A7"/>
            </a:solidFill>
            <a:prstDash val="solid"/>
            <a:tailEnd type="triangle" w="sm" len="sm"/>
          </a:ln>
        </p:spPr>
      </p:cxnSp>
      <p:cxnSp>
        <p:nvCxnSpPr>
          <p:cNvPr id="11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133600" y="2581275"/>
            <a:ext cx="47625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293A7"/>
            </a:solidFill>
            <a:prstDash val="solid"/>
            <a:tail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4743450" y="2019300"/>
            <a:ext cx="62865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268C4"/>
            </a:solidFill>
            <a:prstDash val="solid"/>
            <a:tail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16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239250" y="29241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340B4"/>
            </a:solidFill>
            <a:prstDash val="solid"/>
            <a:tail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75197D-A0BF-4AE2-9330-87B2FD93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2E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2E5C"/>
                </a:solidFill>
                <a:latin typeface="Arial"/>
                <a:ea typeface="Arial"/>
                <a:cs typeface="Arial"/>
              </a:rPr>
              <a:t>Supporting systems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5E5C56-2D3A-4680-847F-94F92F81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25908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9309EC-8F34-4FAD-AF6F-1EF76082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81575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Postgres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E14BCC-E652-4998-81D0-410B8C96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48275"/>
            <a:ext cx="2324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Clients, projects, applications, parties, status and audit history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8FCF90-4F21-469B-A362-494790B0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76800"/>
            <a:ext cx="25908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5E7B55-DE3E-4FD2-9E62-B6685F22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Private Cloudflare R2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2B40BC-4AD7-488F-8EBF-7E6CC87E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48275"/>
            <a:ext cx="2324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Plans, photos, consent documents and generated PS1 files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5103CF-1784-4014-AC32-BA411297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76800"/>
            <a:ext cx="25908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984D13-C7C7-48B6-90AC-6142D238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81575"/>
            <a:ext cx="2324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Transactional email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445EF9-8EAE-4030-8B95-5E38F8B2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48275"/>
            <a:ext cx="2324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Draft resume, more-information requests and status updates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608D3C-00B2-45F0-8D72-73884A95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76800"/>
            <a:ext cx="30480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2DE412-0A79-4780-9AE2-D72FB29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8157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Reliable ServiceM8 sync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EC07F4-63A7-4F0E-BA3D-B189CA6E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48275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Database-backed retries now. A queue worker can be added later if volume requires it.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BD86A7-2B69-45F0-80F5-7905B2A1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81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8C4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F9BB92-9797-4C01-AE69-85119F16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WordPress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836905-C761-4329-B3ED-81A5DAB3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531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Customer experience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9F0202-DF9A-472F-A246-BC6B3650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181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999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B36B30-E482-404F-9A49-A3604E08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531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RGTools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84249C-4583-4695-8095-27DC8A87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1531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Authoritative application data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9DA6D1-B339-4A25-9037-B9CFDCB3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81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85F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CD17C55-581F-4B1D-8B71-42BCCF1E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1531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037A02-95D6-4FC9-AA31-DA54AB16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1531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Private documents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1AAAA0-58C4-4FEB-9174-ECCBEFB3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61817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40B4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3F2CB26-C9CA-4C17-B689-9382D046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844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132844"/>
                </a:solidFill>
                <a:latin typeface="Arial"/>
                <a:ea typeface="Arial"/>
                <a:cs typeface="Arial"/>
              </a:rPr>
              <a:t>ServiceM8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E77B12F-BEE4-45BD-9C20-C1C99DD3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531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A6C8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A6C80"/>
                </a:solidFill>
                <a:latin typeface="Arial"/>
                <a:ea typeface="Arial"/>
                <a:cs typeface="Arial"/>
              </a:rPr>
              <a:t>Operational CRM and jobs</a:t>
            </a:r>
          </a:p>
        </p:txBody>
      </p:sp>
    </p:spTree>
    <p:extLst>
      <p:ext uri="{BB962C8B-B14F-4D97-AF65-F5344CB8AC3E}">
        <p14:creationId xmlns:p14="http://schemas.microsoft.com/office/powerpoint/2010/main" val="1322415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2026-10-01T00:45:08.2570000Z</dcterms:created>
  <dcterms:modified xsi:type="dcterms:W3CDTF">2026-10-01T00:45:08.2570000Z</dcterms:modified>
</coreProperties>
</file>